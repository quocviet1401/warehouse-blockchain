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57" autoAdjust="0"/>
    <p:restoredTop sz="94660"/>
  </p:normalViewPr>
  <p:slideViewPr>
    <p:cSldViewPr snapToGrid="0" showGuides="1">
      <p:cViewPr>
        <p:scale>
          <a:sx n="150" d="100"/>
          <a:sy n="150" d="100"/>
        </p:scale>
        <p:origin x="328" y="-2984"/>
      </p:cViewPr>
      <p:guideLst>
        <p:guide orient="horz" pos="31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dirty="0"/>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p:cNvSpPr>
            <a:spLocks noGrp="1"/>
          </p:cNvSpPr>
          <p:nvPr>
            <p:ph type="dt" sz="half" idx="10"/>
          </p:nvPr>
        </p:nvSpPr>
        <p:spPr/>
        <p:txBody>
          <a:bodyPr/>
          <a:lstStyle/>
          <a:p>
            <a:fld id="{E95511AC-980B-485A-851E-DBD0B8F4CBAD}" type="datetimeFigureOut">
              <a:rPr lang="en-US" smtClean="0"/>
              <a:t>6/3/26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880132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6/3/26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534250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dirty="0"/>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E95511AC-980B-485A-851E-DBD0B8F4CBAD}" type="datetimeFigureOut">
              <a:rPr lang="en-US" smtClean="0"/>
              <a:t>6/3/26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958024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95511AC-980B-485A-851E-DBD0B8F4CBAD}" type="datetimeFigureOut">
              <a:rPr lang="en-US" smtClean="0"/>
              <a:t>6/3/26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831506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dirty="0"/>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95511AC-980B-485A-851E-DBD0B8F4CBAD}" type="datetimeFigureOut">
              <a:rPr lang="en-US" smtClean="0"/>
              <a:t>6/3/26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442525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E95511AC-980B-485A-851E-DBD0B8F4CBAD}" type="datetimeFigureOut">
              <a:rPr lang="en-US" smtClean="0"/>
              <a:t>6/3/26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755432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5511AC-980B-485A-851E-DBD0B8F4CBAD}" type="datetimeFigureOut">
              <a:rPr lang="en-US" smtClean="0"/>
              <a:t>6/3/26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943794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dirty="0"/>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6/3/26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764958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dirty="0"/>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6/3/26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4036842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6/3/26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3612430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6/3/26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3302977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95511AC-980B-485A-851E-DBD0B8F4CBAD}" type="datetimeFigureOut">
              <a:rPr lang="en-US" smtClean="0"/>
              <a:t>6/3/26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6A2BFA2-7CEB-4D76-9663-917F13DE4B1E}" type="slidenum">
              <a:rPr lang="en-US" smtClean="0"/>
              <a:t>‹#›</a:t>
            </a:fld>
            <a:endParaRPr lang="en-US"/>
          </a:p>
        </p:txBody>
      </p:sp>
    </p:spTree>
    <p:extLst>
      <p:ext uri="{BB962C8B-B14F-4D97-AF65-F5344CB8AC3E}">
        <p14:creationId xmlns:p14="http://schemas.microsoft.com/office/powerpoint/2010/main" val="208273829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jpe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jpe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oup 45">
            <a:extLst>
              <a:ext uri="{FF2B5EF4-FFF2-40B4-BE49-F238E27FC236}">
                <a16:creationId xmlns:a16="http://schemas.microsoft.com/office/drawing/2014/main" id="{34C510F2-7255-D7C3-9DCD-43BEBE1666BB}"/>
              </a:ext>
            </a:extLst>
          </p:cNvPr>
          <p:cNvGrpSpPr/>
          <p:nvPr/>
        </p:nvGrpSpPr>
        <p:grpSpPr>
          <a:xfrm>
            <a:off x="6009740" y="1966271"/>
            <a:ext cx="683266" cy="212921"/>
            <a:chOff x="6071533" y="2181217"/>
            <a:chExt cx="683266" cy="215444"/>
          </a:xfrm>
        </p:grpSpPr>
        <p:sp>
          <p:nvSpPr>
            <p:cNvPr id="43" name="TextBox 42">
              <a:extLst>
                <a:ext uri="{FF2B5EF4-FFF2-40B4-BE49-F238E27FC236}">
                  <a16:creationId xmlns:a16="http://schemas.microsoft.com/office/drawing/2014/main" id="{4A57E6C6-5BC4-200A-55C5-E63038F9478E}"/>
                </a:ext>
              </a:extLst>
            </p:cNvPr>
            <p:cNvSpPr txBox="1"/>
            <p:nvPr/>
          </p:nvSpPr>
          <p:spPr>
            <a:xfrm>
              <a:off x="6105590" y="2181217"/>
              <a:ext cx="649209" cy="215444"/>
            </a:xfrm>
            <a:prstGeom prst="rect">
              <a:avLst/>
            </a:prstGeom>
            <a:noFill/>
          </p:spPr>
          <p:txBody>
            <a:bodyPr wrap="square">
              <a:spAutoFit/>
            </a:bodyPr>
            <a:lstStyle/>
            <a:p>
              <a:pPr algn="ctr"/>
              <a:r>
                <a:rPr lang="en-US" sz="800" b="1" dirty="0" err="1">
                  <a:latin typeface="Arial Hebrew Scholar" pitchFamily="2" charset="-79"/>
                  <a:cs typeface="Arial Hebrew Scholar" pitchFamily="2" charset="-79"/>
                </a:rPr>
                <a:t>Github</a:t>
              </a:r>
              <a:endParaRPr lang="en-US" sz="800" b="1" dirty="0">
                <a:latin typeface="Arial Hebrew Scholar" pitchFamily="2" charset="-79"/>
                <a:cs typeface="Arial Hebrew Scholar" pitchFamily="2" charset="-79"/>
              </a:endParaRPr>
            </a:p>
          </p:txBody>
        </p:sp>
        <p:pic>
          <p:nvPicPr>
            <p:cNvPr id="1028" name="Picture 4" descr="Github Logo - Free social media icons">
              <a:extLst>
                <a:ext uri="{FF2B5EF4-FFF2-40B4-BE49-F238E27FC236}">
                  <a16:creationId xmlns:a16="http://schemas.microsoft.com/office/drawing/2014/main" id="{4C95027D-6E4F-D713-8DAE-329A92FB3C74}"/>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36" name="Table 35">
            <a:extLst>
              <a:ext uri="{FF2B5EF4-FFF2-40B4-BE49-F238E27FC236}">
                <a16:creationId xmlns:a16="http://schemas.microsoft.com/office/drawing/2014/main" id="{DEBFABA5-206B-548E-3C0E-CC2EE202AB31}"/>
              </a:ext>
            </a:extLst>
          </p:cNvPr>
          <p:cNvGraphicFramePr>
            <a:graphicFrameLocks noGrp="1"/>
          </p:cNvGraphicFramePr>
          <p:nvPr>
            <p:extLst>
              <p:ext uri="{D42A27DB-BD31-4B8C-83A1-F6EECF244321}">
                <p14:modId xmlns:p14="http://schemas.microsoft.com/office/powerpoint/2010/main" val="3961914306"/>
              </p:ext>
            </p:extLst>
          </p:nvPr>
        </p:nvGraphicFramePr>
        <p:xfrm>
          <a:off x="71979" y="2356347"/>
          <a:ext cx="3890421" cy="1433189"/>
        </p:xfrm>
        <a:graphic>
          <a:graphicData uri="http://schemas.openxmlformats.org/drawingml/2006/table">
            <a:tbl>
              <a:tblPr firstRow="1" bandRow="1">
                <a:tableStyleId>{5C22544A-7EE6-4342-B048-85BDC9FD1C3A}</a:tableStyleId>
              </a:tblPr>
              <a:tblGrid>
                <a:gridCol w="3890421">
                  <a:extLst>
                    <a:ext uri="{9D8B030D-6E8A-4147-A177-3AD203B41FA5}">
                      <a16:colId xmlns:a16="http://schemas.microsoft.com/office/drawing/2014/main" val="1520847292"/>
                    </a:ext>
                  </a:extLst>
                </a:gridCol>
              </a:tblGrid>
              <a:tr h="2438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dirty="0" err="1">
                          <a:solidFill>
                            <a:schemeClr val="bg1"/>
                          </a:solidFill>
                          <a:latin typeface="Arial" panose="020B0604020202020204" pitchFamily="34" charset="0"/>
                          <a:cs typeface="Arial" panose="020B0604020202020204" pitchFamily="34" charset="0"/>
                        </a:rPr>
                        <a:t>Giới</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thiệu</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2535013272"/>
                  </a:ext>
                </a:extLst>
              </a:tr>
              <a:tr h="1189349">
                <a:tc>
                  <a:txBody>
                    <a:bodyPr/>
                    <a:lstStyle/>
                    <a:p>
                      <a:pPr algn="just"/>
                      <a:r>
                        <a:rPr lang="vi-VN" sz="900" dirty="0">
                          <a:latin typeface="+mn-lt"/>
                          <a:cs typeface="Arial" panose="020B0604020202020204" pitchFamily="34" charset="0"/>
                        </a:rPr>
                        <a:t>Hệ thống Quản lý Kho hàng ứng dụng Blockchain là giải pháp kết hợp giữa quản lý kho hàng truyền thống và công nghệ blockchain hiện đại, giúp doanh nghiệp theo dõi toàn bộ hoạt động nhập – xuất và tồn kho một cách chính xác, minh bạch và bảo mật. Mỗi giao dịch được tự động ghi nhận lên chuỗi khối với cơ chế mã hóa SHA-256, Proof of Work và chữ ký số ECDSA, đảm bảo lịch sử dữ liệu không thể bị chỉnh sửa hay giả mạo. Hệ thống giúp doanh nghiệp tăng độ tin cậy dữ liệu, hỗ trợ truy vết nguồn gốc hàng hóa và hạn chế rủi ro gian lận trong quản lý kho.</a:t>
                      </a:r>
                      <a:endParaRPr lang="vi-VN" sz="9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graphicFrame>
        <p:nvGraphicFramePr>
          <p:cNvPr id="7" name="Table 6">
            <a:extLst>
              <a:ext uri="{FF2B5EF4-FFF2-40B4-BE49-F238E27FC236}">
                <a16:creationId xmlns:a16="http://schemas.microsoft.com/office/drawing/2014/main" id="{56751592-98ED-BE76-ED93-630A31DCD2F6}"/>
              </a:ext>
            </a:extLst>
          </p:cNvPr>
          <p:cNvGraphicFramePr>
            <a:graphicFrameLocks noGrp="1"/>
          </p:cNvGraphicFramePr>
          <p:nvPr>
            <p:extLst>
              <p:ext uri="{D42A27DB-BD31-4B8C-83A1-F6EECF244321}">
                <p14:modId xmlns:p14="http://schemas.microsoft.com/office/powerpoint/2010/main" val="2116932908"/>
              </p:ext>
            </p:extLst>
          </p:nvPr>
        </p:nvGraphicFramePr>
        <p:xfrm>
          <a:off x="4027952" y="2360409"/>
          <a:ext cx="2789416" cy="2289637"/>
        </p:xfrm>
        <a:graphic>
          <a:graphicData uri="http://schemas.openxmlformats.org/drawingml/2006/table">
            <a:tbl>
              <a:tblPr firstRow="1" bandRow="1">
                <a:tableStyleId>{5C22544A-7EE6-4342-B048-85BDC9FD1C3A}</a:tableStyleId>
              </a:tblPr>
              <a:tblGrid>
                <a:gridCol w="2789416">
                  <a:extLst>
                    <a:ext uri="{9D8B030D-6E8A-4147-A177-3AD203B41FA5}">
                      <a16:colId xmlns:a16="http://schemas.microsoft.com/office/drawing/2014/main" val="1520847292"/>
                    </a:ext>
                  </a:extLst>
                </a:gridCol>
              </a:tblGrid>
              <a:tr h="252445">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Arial" panose="020B0604020202020204" pitchFamily="34" charset="0"/>
                          <a:cs typeface="Arial" panose="020B0604020202020204" pitchFamily="34" charset="0"/>
                        </a:rPr>
                        <a:t>Kiến trúc hệ thống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2535013272"/>
                  </a:ext>
                </a:extLst>
              </a:tr>
              <a:tr h="203719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grpSp>
        <p:nvGrpSpPr>
          <p:cNvPr id="70" name="Group 69">
            <a:extLst>
              <a:ext uri="{FF2B5EF4-FFF2-40B4-BE49-F238E27FC236}">
                <a16:creationId xmlns:a16="http://schemas.microsoft.com/office/drawing/2014/main" id="{518BA7C7-D5B3-521F-4863-EB6372F08A16}"/>
              </a:ext>
            </a:extLst>
          </p:cNvPr>
          <p:cNvGrpSpPr/>
          <p:nvPr/>
        </p:nvGrpSpPr>
        <p:grpSpPr>
          <a:xfrm>
            <a:off x="0" y="-39866"/>
            <a:ext cx="6858000" cy="2289646"/>
            <a:chOff x="0" y="-40063"/>
            <a:chExt cx="6858000" cy="2289646"/>
          </a:xfrm>
        </p:grpSpPr>
        <p:grpSp>
          <p:nvGrpSpPr>
            <p:cNvPr id="27" name="Group 26">
              <a:extLst>
                <a:ext uri="{FF2B5EF4-FFF2-40B4-BE49-F238E27FC236}">
                  <a16:creationId xmlns:a16="http://schemas.microsoft.com/office/drawing/2014/main" id="{076F30E7-DE29-4869-A261-9356210766F3}"/>
                </a:ext>
              </a:extLst>
            </p:cNvPr>
            <p:cNvGrpSpPr/>
            <p:nvPr/>
          </p:nvGrpSpPr>
          <p:grpSpPr>
            <a:xfrm>
              <a:off x="0" y="-40063"/>
              <a:ext cx="6858000" cy="1149907"/>
              <a:chOff x="0" y="-40063"/>
              <a:chExt cx="6858000" cy="1149907"/>
            </a:xfrm>
          </p:grpSpPr>
          <p:pic>
            <p:nvPicPr>
              <p:cNvPr id="39" name="Picture 38">
                <a:extLst>
                  <a:ext uri="{FF2B5EF4-FFF2-40B4-BE49-F238E27FC236}">
                    <a16:creationId xmlns:a16="http://schemas.microsoft.com/office/drawing/2014/main" id="{7ABF4E65-9336-CED4-40B5-828F0E50C5E5}"/>
                  </a:ext>
                </a:extLst>
              </p:cNvPr>
              <p:cNvPicPr>
                <a:picLocks noChangeAspect="1"/>
              </p:cNvPicPr>
              <p:nvPr/>
            </p:nvPicPr>
            <p:blipFill>
              <a:blip r:embed="rId3"/>
              <a:stretch>
                <a:fillRect/>
              </a:stretch>
            </p:blipFill>
            <p:spPr>
              <a:xfrm>
                <a:off x="0" y="-1275"/>
                <a:ext cx="6858000" cy="1111119"/>
              </a:xfrm>
              <a:prstGeom prst="rect">
                <a:avLst/>
              </a:prstGeom>
            </p:spPr>
          </p:pic>
          <p:sp>
            <p:nvSpPr>
              <p:cNvPr id="40" name="TextBox 39">
                <a:extLst>
                  <a:ext uri="{FF2B5EF4-FFF2-40B4-BE49-F238E27FC236}">
                    <a16:creationId xmlns:a16="http://schemas.microsoft.com/office/drawing/2014/main" id="{E6C724AE-79C3-CBF7-13D9-AFB8C50186BA}"/>
                  </a:ext>
                </a:extLst>
              </p:cNvPr>
              <p:cNvSpPr txBox="1"/>
              <p:nvPr/>
            </p:nvSpPr>
            <p:spPr>
              <a:xfrm>
                <a:off x="2439016" y="-40063"/>
                <a:ext cx="1991250" cy="400110"/>
              </a:xfrm>
              <a:prstGeom prst="rect">
                <a:avLst/>
              </a:prstGeom>
              <a:noFill/>
            </p:spPr>
            <p:txBody>
              <a:bodyPr wrap="none" rtlCol="0">
                <a:spAutoFit/>
              </a:bodyPr>
              <a:lstStyle/>
              <a:p>
                <a:pPr algn="ctr"/>
                <a:r>
                  <a:rPr lang="en-US" sz="1000" dirty="0">
                    <a:solidFill>
                      <a:schemeClr val="bg1"/>
                    </a:solidFill>
                    <a:latin typeface="Arial Hebrew Scholar" pitchFamily="2" charset="-79"/>
                    <a:cs typeface="Arial Hebrew Scholar" pitchFamily="2" charset="-79"/>
                  </a:rPr>
                  <a:t>T</a:t>
                </a:r>
                <a:r>
                  <a:rPr lang="en-US" sz="1000" b="1" dirty="0">
                    <a:solidFill>
                      <a:schemeClr val="bg1"/>
                    </a:solidFill>
                    <a:latin typeface="Arial Hebrew Scholar" pitchFamily="2" charset="-79"/>
                    <a:cs typeface="Arial Hebrew Scholar" pitchFamily="2" charset="-79"/>
                  </a:rPr>
                  <a:t>RƯỜNG ĐẠI HỌC ĐẠI NAM</a:t>
                </a:r>
              </a:p>
              <a:p>
                <a:pPr algn="ctr"/>
                <a:r>
                  <a:rPr lang="en-US" sz="1000" b="1" dirty="0">
                    <a:solidFill>
                      <a:schemeClr val="bg1"/>
                    </a:solidFill>
                    <a:latin typeface="Arial Hebrew Scholar" pitchFamily="2" charset="-79"/>
                    <a:cs typeface="Arial Hebrew Scholar" pitchFamily="2" charset="-79"/>
                  </a:rPr>
                  <a:t>KHOA CÔNG NGHỆ </a:t>
                </a:r>
                <a:r>
                  <a:rPr lang="en-US" sz="1000" dirty="0">
                    <a:solidFill>
                      <a:schemeClr val="bg1"/>
                    </a:solidFill>
                    <a:latin typeface="Arial Hebrew Scholar" pitchFamily="2" charset="-79"/>
                    <a:cs typeface="Arial Hebrew Scholar" pitchFamily="2" charset="-79"/>
                  </a:rPr>
                  <a:t>T</a:t>
                </a:r>
                <a:r>
                  <a:rPr lang="en-US" sz="1000" b="1" dirty="0">
                    <a:solidFill>
                      <a:schemeClr val="bg1"/>
                    </a:solidFill>
                    <a:latin typeface="Arial Hebrew Scholar" pitchFamily="2" charset="-79"/>
                    <a:cs typeface="Arial Hebrew Scholar" pitchFamily="2" charset="-79"/>
                  </a:rPr>
                  <a:t>HÔNG </a:t>
                </a:r>
                <a:r>
                  <a:rPr lang="en-US" sz="1000" dirty="0">
                    <a:solidFill>
                      <a:schemeClr val="bg1"/>
                    </a:solidFill>
                    <a:latin typeface="Arial Hebrew Scholar" pitchFamily="2" charset="-79"/>
                    <a:cs typeface="Arial Hebrew Scholar" pitchFamily="2" charset="-79"/>
                  </a:rPr>
                  <a:t>T</a:t>
                </a:r>
                <a:r>
                  <a:rPr lang="en-US" sz="1000" b="1" dirty="0">
                    <a:solidFill>
                      <a:schemeClr val="bg1"/>
                    </a:solidFill>
                    <a:latin typeface="Arial Hebrew Scholar" pitchFamily="2" charset="-79"/>
                    <a:cs typeface="Arial Hebrew Scholar" pitchFamily="2" charset="-79"/>
                  </a:rPr>
                  <a:t>IN</a:t>
                </a:r>
              </a:p>
            </p:txBody>
          </p:sp>
        </p:grpSp>
        <p:grpSp>
          <p:nvGrpSpPr>
            <p:cNvPr id="65" name="Group 64">
              <a:extLst>
                <a:ext uri="{FF2B5EF4-FFF2-40B4-BE49-F238E27FC236}">
                  <a16:creationId xmlns:a16="http://schemas.microsoft.com/office/drawing/2014/main" id="{36EBD40C-8A27-10B2-BA61-9E94053E57EA}"/>
                </a:ext>
              </a:extLst>
            </p:cNvPr>
            <p:cNvGrpSpPr/>
            <p:nvPr/>
          </p:nvGrpSpPr>
          <p:grpSpPr>
            <a:xfrm>
              <a:off x="0" y="1082578"/>
              <a:ext cx="6858000" cy="1167005"/>
              <a:chOff x="0" y="1082578"/>
              <a:chExt cx="6858000" cy="1167005"/>
            </a:xfrm>
          </p:grpSpPr>
          <p:sp>
            <p:nvSpPr>
              <p:cNvPr id="5" name="Title 1">
                <a:extLst>
                  <a:ext uri="{FF2B5EF4-FFF2-40B4-BE49-F238E27FC236}">
                    <a16:creationId xmlns:a16="http://schemas.microsoft.com/office/drawing/2014/main" id="{3D9E4F7B-BDBB-AF4A-B4AD-63280788DEC9}"/>
                  </a:ext>
                </a:extLst>
              </p:cNvPr>
              <p:cNvSpPr txBox="1">
                <a:spLocks/>
              </p:cNvSpPr>
              <p:nvPr/>
            </p:nvSpPr>
            <p:spPr>
              <a:xfrm>
                <a:off x="0" y="1082578"/>
                <a:ext cx="6765928" cy="329891"/>
              </a:xfrm>
              <a:prstGeom prst="rect">
                <a:avLst/>
              </a:prstGeom>
            </p:spPr>
            <p:txBody>
              <a:bodyPr vert="horz" lIns="20299" tIns="10150" rIns="20299" bIns="10150" rtlCol="0" anchor="ctr">
                <a:noAutofit/>
              </a:bodyPr>
              <a:lstStyle>
                <a:lvl1pPr algn="ctr" defTabSz="2880360" rtl="0" eaLnBrk="1" latinLnBrk="0" hangingPunct="1">
                  <a:lnSpc>
                    <a:spcPct val="90000"/>
                  </a:lnSpc>
                  <a:spcBef>
                    <a:spcPct val="0"/>
                  </a:spcBef>
                  <a:buNone/>
                  <a:defRPr sz="18900" kern="1200">
                    <a:solidFill>
                      <a:schemeClr val="tx1"/>
                    </a:solidFill>
                    <a:latin typeface="+mj-lt"/>
                    <a:ea typeface="+mj-ea"/>
                    <a:cs typeface="+mj-cs"/>
                  </a:defRPr>
                </a:lvl1pPr>
              </a:lstStyle>
              <a:p>
                <a:r>
                  <a:rPr lang="en-US" sz="1200" b="1" dirty="0">
                    <a:solidFill>
                      <a:schemeClr val="accent2"/>
                    </a:solidFill>
                    <a:latin typeface="Arial Hebrew Scholar" pitchFamily="2" charset="-79"/>
                    <a:cs typeface="Arial Hebrew Scholar" pitchFamily="2" charset="-79"/>
                  </a:rPr>
                  <a:t>HỆ THỐNG QUẢN LÝ KHO HÀNG ỨNG DỤNG BLOCKCHAIN</a:t>
                </a:r>
              </a:p>
            </p:txBody>
          </p:sp>
          <p:sp>
            <p:nvSpPr>
              <p:cNvPr id="6" name="Rectangle 5">
                <a:extLst>
                  <a:ext uri="{FF2B5EF4-FFF2-40B4-BE49-F238E27FC236}">
                    <a16:creationId xmlns:a16="http://schemas.microsoft.com/office/drawing/2014/main" id="{FDB71301-74E9-3D33-787D-882C46CB1337}"/>
                  </a:ext>
                </a:extLst>
              </p:cNvPr>
              <p:cNvSpPr/>
              <p:nvPr/>
            </p:nvSpPr>
            <p:spPr>
              <a:xfrm>
                <a:off x="0" y="1337994"/>
                <a:ext cx="6858000" cy="14559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799" b="1" dirty="0" err="1"/>
                  <a:t>Đỗ</a:t>
                </a:r>
                <a:r>
                  <a:rPr lang="en-US" sz="799" b="1" dirty="0"/>
                  <a:t> </a:t>
                </a:r>
                <a:r>
                  <a:rPr lang="en-US" sz="799" b="1" dirty="0" err="1"/>
                  <a:t>Quốc</a:t>
                </a:r>
                <a:r>
                  <a:rPr lang="en-US" sz="799" b="1" dirty="0"/>
                  <a:t> </a:t>
                </a:r>
                <a:r>
                  <a:rPr lang="en-US" sz="799" b="1" dirty="0" err="1"/>
                  <a:t>Việt</a:t>
                </a:r>
                <a:endParaRPr lang="en-US" sz="799" b="1" dirty="0"/>
              </a:p>
            </p:txBody>
          </p:sp>
          <p:pic>
            <p:nvPicPr>
              <p:cNvPr id="63" name="Picture 62">
                <a:extLst>
                  <a:ext uri="{FF2B5EF4-FFF2-40B4-BE49-F238E27FC236}">
                    <a16:creationId xmlns:a16="http://schemas.microsoft.com/office/drawing/2014/main" id="{77C1551A-D245-378A-F0E2-59C5BABF9FCD}"/>
                  </a:ext>
                </a:extLst>
              </p:cNvPr>
              <p:cNvPicPr>
                <a:picLocks noChangeAspect="1"/>
              </p:cNvPicPr>
              <p:nvPr/>
            </p:nvPicPr>
            <p:blipFill>
              <a:blip r:embed="rId4"/>
              <a:stretch>
                <a:fillRect/>
              </a:stretch>
            </p:blipFill>
            <p:spPr>
              <a:xfrm>
                <a:off x="2620895" y="1512206"/>
                <a:ext cx="1616210" cy="737377"/>
              </a:xfrm>
              <a:prstGeom prst="rect">
                <a:avLst/>
              </a:prstGeom>
            </p:spPr>
          </p:pic>
        </p:grpSp>
      </p:grpSp>
      <p:graphicFrame>
        <p:nvGraphicFramePr>
          <p:cNvPr id="73" name="Table 72">
            <a:extLst>
              <a:ext uri="{FF2B5EF4-FFF2-40B4-BE49-F238E27FC236}">
                <a16:creationId xmlns:a16="http://schemas.microsoft.com/office/drawing/2014/main" id="{1CED74D1-B04A-EC38-34C4-DD7DDC44634A}"/>
              </a:ext>
            </a:extLst>
          </p:cNvPr>
          <p:cNvGraphicFramePr>
            <a:graphicFrameLocks noGrp="1"/>
          </p:cNvGraphicFramePr>
          <p:nvPr>
            <p:extLst>
              <p:ext uri="{D42A27DB-BD31-4B8C-83A1-F6EECF244321}">
                <p14:modId xmlns:p14="http://schemas.microsoft.com/office/powerpoint/2010/main" val="2821785724"/>
              </p:ext>
            </p:extLst>
          </p:nvPr>
        </p:nvGraphicFramePr>
        <p:xfrm>
          <a:off x="4027952" y="4670365"/>
          <a:ext cx="2789415" cy="1926010"/>
        </p:xfrm>
        <a:graphic>
          <a:graphicData uri="http://schemas.openxmlformats.org/drawingml/2006/table">
            <a:tbl>
              <a:tblPr firstRow="1" bandRow="1">
                <a:tableStyleId>{5C22544A-7EE6-4342-B048-85BDC9FD1C3A}</a:tableStyleId>
              </a:tblPr>
              <a:tblGrid>
                <a:gridCol w="2789415">
                  <a:extLst>
                    <a:ext uri="{9D8B030D-6E8A-4147-A177-3AD203B41FA5}">
                      <a16:colId xmlns:a16="http://schemas.microsoft.com/office/drawing/2014/main" val="1520847292"/>
                    </a:ext>
                  </a:extLst>
                </a:gridCol>
              </a:tblGrid>
              <a:tr h="25572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dirty="0" err="1">
                          <a:solidFill>
                            <a:schemeClr val="bg1"/>
                          </a:solidFill>
                          <a:latin typeface="Arial" panose="020B0604020202020204" pitchFamily="34" charset="0"/>
                          <a:cs typeface="Arial" panose="020B0604020202020204" pitchFamily="34" charset="0"/>
                        </a:rPr>
                        <a:t>Công</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nghệ</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sử</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dụng</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2535013272"/>
                  </a:ext>
                </a:extLst>
              </a:tr>
              <a:tr h="167028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err="1">
                          <a:solidFill>
                            <a:schemeClr val="tx1"/>
                          </a:solidFill>
                          <a:latin typeface="Arial" panose="020B0604020202020204" pitchFamily="34" charset="0"/>
                          <a:cs typeface="Arial" panose="020B0604020202020204" pitchFamily="34" charset="0"/>
                        </a:rPr>
                        <a:t>Công</a:t>
                      </a:r>
                      <a:r>
                        <a:rPr lang="en-US" sz="900" b="0" dirty="0">
                          <a:solidFill>
                            <a:schemeClr val="tx1"/>
                          </a:solidFill>
                          <a:latin typeface="Arial" panose="020B0604020202020204" pitchFamily="34" charset="0"/>
                          <a:cs typeface="Arial" panose="020B0604020202020204" pitchFamily="34" charset="0"/>
                        </a:rPr>
                        <a:t> </a:t>
                      </a:r>
                      <a:r>
                        <a:rPr lang="en-US" sz="900" b="0" dirty="0" err="1">
                          <a:solidFill>
                            <a:schemeClr val="tx1"/>
                          </a:solidFill>
                          <a:latin typeface="Arial" panose="020B0604020202020204" pitchFamily="34" charset="0"/>
                          <a:cs typeface="Arial" panose="020B0604020202020204" pitchFamily="34" charset="0"/>
                        </a:rPr>
                        <a:t>nghệ</a:t>
                      </a:r>
                      <a:r>
                        <a:rPr lang="en-US" sz="900" b="0" dirty="0">
                          <a:solidFill>
                            <a:schemeClr val="tx1"/>
                          </a:solidFill>
                          <a:latin typeface="Arial" panose="020B0604020202020204" pitchFamily="34" charset="0"/>
                          <a:cs typeface="Arial" panose="020B0604020202020204" pitchFamily="34" charset="0"/>
                        </a:rPr>
                        <a:t> </a:t>
                      </a:r>
                      <a:r>
                        <a:rPr lang="en-US" sz="900" b="0" dirty="0" err="1">
                          <a:solidFill>
                            <a:schemeClr val="tx1"/>
                          </a:solidFill>
                          <a:latin typeface="Arial" panose="020B0604020202020204" pitchFamily="34" charset="0"/>
                          <a:cs typeface="Arial" panose="020B0604020202020204" pitchFamily="34" charset="0"/>
                        </a:rPr>
                        <a:t>chính</a:t>
                      </a:r>
                      <a:endParaRPr lang="en-US" sz="900" b="0" dirty="0">
                        <a:solidFill>
                          <a:schemeClr val="tx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900" b="0" dirty="0">
                        <a:solidFill>
                          <a:schemeClr val="tx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900" b="0" dirty="0">
                        <a:solidFill>
                          <a:schemeClr val="tx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900" b="0" dirty="0">
                        <a:solidFill>
                          <a:schemeClr val="tx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err="1">
                          <a:solidFill>
                            <a:schemeClr val="tx1"/>
                          </a:solidFill>
                          <a:latin typeface="Arial" panose="020B0604020202020204" pitchFamily="34" charset="0"/>
                          <a:cs typeface="Arial" panose="020B0604020202020204" pitchFamily="34" charset="0"/>
                        </a:rPr>
                        <a:t>Cơ</a:t>
                      </a:r>
                      <a:r>
                        <a:rPr lang="en-US" sz="900" b="0" dirty="0">
                          <a:solidFill>
                            <a:schemeClr val="tx1"/>
                          </a:solidFill>
                          <a:latin typeface="Arial" panose="020B0604020202020204" pitchFamily="34" charset="0"/>
                          <a:cs typeface="Arial" panose="020B0604020202020204" pitchFamily="34" charset="0"/>
                        </a:rPr>
                        <a:t> </a:t>
                      </a:r>
                      <a:r>
                        <a:rPr lang="en-US" sz="900" b="0" dirty="0" err="1">
                          <a:solidFill>
                            <a:schemeClr val="tx1"/>
                          </a:solidFill>
                          <a:latin typeface="Arial" panose="020B0604020202020204" pitchFamily="34" charset="0"/>
                          <a:cs typeface="Arial" panose="020B0604020202020204" pitchFamily="34" charset="0"/>
                        </a:rPr>
                        <a:t>sở</a:t>
                      </a:r>
                      <a:r>
                        <a:rPr lang="en-US" sz="900" b="0" dirty="0">
                          <a:solidFill>
                            <a:schemeClr val="tx1"/>
                          </a:solidFill>
                          <a:latin typeface="Arial" panose="020B0604020202020204" pitchFamily="34" charset="0"/>
                          <a:cs typeface="Arial" panose="020B0604020202020204" pitchFamily="34" charset="0"/>
                        </a:rPr>
                        <a:t> </a:t>
                      </a:r>
                      <a:r>
                        <a:rPr lang="en-US" sz="900" b="0" dirty="0" err="1">
                          <a:solidFill>
                            <a:schemeClr val="tx1"/>
                          </a:solidFill>
                          <a:latin typeface="Arial" panose="020B0604020202020204" pitchFamily="34" charset="0"/>
                          <a:cs typeface="Arial" panose="020B0604020202020204" pitchFamily="34" charset="0"/>
                        </a:rPr>
                        <a:t>dữ</a:t>
                      </a:r>
                      <a:r>
                        <a:rPr lang="en-US" sz="900" b="0" dirty="0">
                          <a:solidFill>
                            <a:schemeClr val="tx1"/>
                          </a:solidFill>
                          <a:latin typeface="Arial" panose="020B0604020202020204" pitchFamily="34" charset="0"/>
                          <a:cs typeface="Arial" panose="020B0604020202020204" pitchFamily="34" charset="0"/>
                        </a:rPr>
                        <a:t> </a:t>
                      </a:r>
                      <a:r>
                        <a:rPr lang="en-US" sz="900" b="0" dirty="0" err="1">
                          <a:solidFill>
                            <a:schemeClr val="tx1"/>
                          </a:solidFill>
                          <a:latin typeface="Arial" panose="020B0604020202020204" pitchFamily="34" charset="0"/>
                          <a:cs typeface="Arial" panose="020B0604020202020204" pitchFamily="34" charset="0"/>
                        </a:rPr>
                        <a:t>liệu</a:t>
                      </a:r>
                      <a:endParaRPr lang="en-US" sz="900" b="0" dirty="0">
                        <a:solidFill>
                          <a:schemeClr val="tx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900" b="0" dirty="0">
                        <a:solidFill>
                          <a:schemeClr val="tx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900" b="0" dirty="0">
                        <a:solidFill>
                          <a:schemeClr val="tx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900" b="0" dirty="0">
                        <a:solidFill>
                          <a:schemeClr val="tx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err="1">
                          <a:solidFill>
                            <a:schemeClr val="tx1"/>
                          </a:solidFill>
                          <a:latin typeface="Arial" panose="020B0604020202020204" pitchFamily="34" charset="0"/>
                          <a:cs typeface="Arial" panose="020B0604020202020204" pitchFamily="34" charset="0"/>
                        </a:rPr>
                        <a:t>Bảo</a:t>
                      </a:r>
                      <a:r>
                        <a:rPr lang="en-US" sz="900" b="0" dirty="0">
                          <a:solidFill>
                            <a:schemeClr val="tx1"/>
                          </a:solidFill>
                          <a:latin typeface="Arial" panose="020B0604020202020204" pitchFamily="34" charset="0"/>
                          <a:cs typeface="Arial" panose="020B0604020202020204" pitchFamily="34" charset="0"/>
                        </a:rPr>
                        <a:t> </a:t>
                      </a:r>
                      <a:r>
                        <a:rPr lang="en-US" sz="900" b="0" dirty="0" err="1">
                          <a:solidFill>
                            <a:schemeClr val="tx1"/>
                          </a:solidFill>
                          <a:latin typeface="Arial" panose="020B0604020202020204" pitchFamily="34" charset="0"/>
                          <a:cs typeface="Arial" panose="020B0604020202020204" pitchFamily="34" charset="0"/>
                        </a:rPr>
                        <a:t>mật</a:t>
                      </a:r>
                      <a:endParaRPr lang="en-US" sz="900" b="0" dirty="0">
                        <a:solidFill>
                          <a:schemeClr val="tx1"/>
                        </a:solidFill>
                        <a:latin typeface="Arial" panose="020B0604020202020204" pitchFamily="34" charset="0"/>
                        <a:cs typeface="Arial" panose="020B0604020202020204" pitchFamily="34" charset="0"/>
                      </a:endParaRPr>
                    </a:p>
                    <a:p>
                      <a:pPr algn="just"/>
                      <a:endParaRPr lang="vi-VN" sz="900" dirty="0">
                        <a:latin typeface="Arial" panose="020B0604020202020204" pitchFamily="34" charset="0"/>
                        <a:cs typeface="Arial Hebrew Schol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graphicFrame>
        <p:nvGraphicFramePr>
          <p:cNvPr id="82" name="Table 81">
            <a:extLst>
              <a:ext uri="{FF2B5EF4-FFF2-40B4-BE49-F238E27FC236}">
                <a16:creationId xmlns:a16="http://schemas.microsoft.com/office/drawing/2014/main" id="{232FA873-71B4-C434-9F8C-88FB366D900C}"/>
              </a:ext>
            </a:extLst>
          </p:cNvPr>
          <p:cNvGraphicFramePr>
            <a:graphicFrameLocks noGrp="1"/>
          </p:cNvGraphicFramePr>
          <p:nvPr>
            <p:extLst>
              <p:ext uri="{D42A27DB-BD31-4B8C-83A1-F6EECF244321}">
                <p14:modId xmlns:p14="http://schemas.microsoft.com/office/powerpoint/2010/main" val="316566424"/>
              </p:ext>
            </p:extLst>
          </p:nvPr>
        </p:nvGraphicFramePr>
        <p:xfrm>
          <a:off x="71978" y="3794556"/>
          <a:ext cx="3890421" cy="6055182"/>
        </p:xfrm>
        <a:graphic>
          <a:graphicData uri="http://schemas.openxmlformats.org/drawingml/2006/table">
            <a:tbl>
              <a:tblPr firstRow="1" bandRow="1">
                <a:tableStyleId>{5C22544A-7EE6-4342-B048-85BDC9FD1C3A}</a:tableStyleId>
              </a:tblPr>
              <a:tblGrid>
                <a:gridCol w="3890421">
                  <a:extLst>
                    <a:ext uri="{9D8B030D-6E8A-4147-A177-3AD203B41FA5}">
                      <a16:colId xmlns:a16="http://schemas.microsoft.com/office/drawing/2014/main" val="1520847292"/>
                    </a:ext>
                  </a:extLst>
                </a:gridCol>
              </a:tblGrid>
              <a:tr h="122328">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dirty="0">
                          <a:solidFill>
                            <a:schemeClr val="bg1"/>
                          </a:solidFill>
                          <a:latin typeface="Arial" panose="020B0604020202020204" pitchFamily="34" charset="0"/>
                          <a:cs typeface="Arial" panose="020B0604020202020204" pitchFamily="34" charset="0"/>
                        </a:rPr>
                        <a:t>Giao </a:t>
                      </a:r>
                      <a:r>
                        <a:rPr lang="en-US" sz="1000" b="1" dirty="0" err="1">
                          <a:solidFill>
                            <a:schemeClr val="bg1"/>
                          </a:solidFill>
                          <a:latin typeface="Arial" panose="020B0604020202020204" pitchFamily="34" charset="0"/>
                          <a:cs typeface="Arial" panose="020B0604020202020204" pitchFamily="34" charset="0"/>
                        </a:rPr>
                        <a:t>diện</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ứng</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dụng</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2535013272"/>
                  </a:ext>
                </a:extLst>
              </a:tr>
              <a:tr h="581134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7733821"/>
                  </a:ext>
                </a:extLst>
              </a:tr>
            </a:tbl>
          </a:graphicData>
        </a:graphic>
      </p:graphicFrame>
      <p:graphicFrame>
        <p:nvGraphicFramePr>
          <p:cNvPr id="89" name="Table 88">
            <a:extLst>
              <a:ext uri="{FF2B5EF4-FFF2-40B4-BE49-F238E27FC236}">
                <a16:creationId xmlns:a16="http://schemas.microsoft.com/office/drawing/2014/main" id="{F959286E-D53A-FB49-5826-7326306DBEDE}"/>
              </a:ext>
            </a:extLst>
          </p:cNvPr>
          <p:cNvGraphicFramePr>
            <a:graphicFrameLocks noGrp="1"/>
          </p:cNvGraphicFramePr>
          <p:nvPr>
            <p:extLst>
              <p:ext uri="{D42A27DB-BD31-4B8C-83A1-F6EECF244321}">
                <p14:modId xmlns:p14="http://schemas.microsoft.com/office/powerpoint/2010/main" val="4259971899"/>
              </p:ext>
            </p:extLst>
          </p:nvPr>
        </p:nvGraphicFramePr>
        <p:xfrm>
          <a:off x="4027951" y="6619313"/>
          <a:ext cx="2789417" cy="1426181"/>
        </p:xfrm>
        <a:graphic>
          <a:graphicData uri="http://schemas.openxmlformats.org/drawingml/2006/table">
            <a:tbl>
              <a:tblPr firstRow="1" bandRow="1">
                <a:tableStyleId>{5C22544A-7EE6-4342-B048-85BDC9FD1C3A}</a:tableStyleId>
              </a:tblPr>
              <a:tblGrid>
                <a:gridCol w="2789417">
                  <a:extLst>
                    <a:ext uri="{9D8B030D-6E8A-4147-A177-3AD203B41FA5}">
                      <a16:colId xmlns:a16="http://schemas.microsoft.com/office/drawing/2014/main" val="1520847292"/>
                    </a:ext>
                  </a:extLst>
                </a:gridCol>
              </a:tblGrid>
              <a:tr h="14651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Arial" panose="020B0604020202020204" pitchFamily="34" charset="0"/>
                          <a:cs typeface="Arial" panose="020B0604020202020204" pitchFamily="34" charset="0"/>
                        </a:rPr>
                        <a:t>Platform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2535013272"/>
                  </a:ext>
                </a:extLst>
              </a:tr>
              <a:tr h="11823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graphicFrame>
        <p:nvGraphicFramePr>
          <p:cNvPr id="90" name="Table 89">
            <a:extLst>
              <a:ext uri="{FF2B5EF4-FFF2-40B4-BE49-F238E27FC236}">
                <a16:creationId xmlns:a16="http://schemas.microsoft.com/office/drawing/2014/main" id="{0335167A-EED6-A656-BA4F-2AD2225BD2B1}"/>
              </a:ext>
            </a:extLst>
          </p:cNvPr>
          <p:cNvGraphicFramePr>
            <a:graphicFrameLocks noGrp="1"/>
          </p:cNvGraphicFramePr>
          <p:nvPr>
            <p:extLst>
              <p:ext uri="{D42A27DB-BD31-4B8C-83A1-F6EECF244321}">
                <p14:modId xmlns:p14="http://schemas.microsoft.com/office/powerpoint/2010/main" val="4263277510"/>
              </p:ext>
            </p:extLst>
          </p:nvPr>
        </p:nvGraphicFramePr>
        <p:xfrm>
          <a:off x="4027950" y="8068432"/>
          <a:ext cx="2789417" cy="1426181"/>
        </p:xfrm>
        <a:graphic>
          <a:graphicData uri="http://schemas.openxmlformats.org/drawingml/2006/table">
            <a:tbl>
              <a:tblPr firstRow="1" bandRow="1">
                <a:tableStyleId>{5C22544A-7EE6-4342-B048-85BDC9FD1C3A}</a:tableStyleId>
              </a:tblPr>
              <a:tblGrid>
                <a:gridCol w="2789417">
                  <a:extLst>
                    <a:ext uri="{9D8B030D-6E8A-4147-A177-3AD203B41FA5}">
                      <a16:colId xmlns:a16="http://schemas.microsoft.com/office/drawing/2014/main" val="1520847292"/>
                    </a:ext>
                  </a:extLst>
                </a:gridCol>
              </a:tblGrid>
              <a:tr h="14651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Arial" panose="020B0604020202020204" pitchFamily="34" charset="0"/>
                          <a:cs typeface="Arial" panose="020B0604020202020204" pitchFamily="34" charset="0"/>
                        </a:rPr>
                        <a:t>Hướng phát triển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2535013272"/>
                  </a:ext>
                </a:extLst>
              </a:tr>
              <a:tr h="1182341">
                <a:tc>
                  <a:txBody>
                    <a:bodyPr/>
                    <a:lstStyle/>
                    <a:p>
                      <a:pPr marL="171450" indent="-171450" algn="just">
                        <a:buFont typeface="Arial" panose="020B0604020202020204" pitchFamily="34" charset="0"/>
                        <a:buChar char="•"/>
                      </a:pPr>
                      <a:r>
                        <a:rPr lang="vi-VN" sz="1000" dirty="0">
                          <a:latin typeface="+mn-lt"/>
                          <a:cs typeface="Arial" panose="020B0604020202020204" pitchFamily="34" charset="0"/>
                        </a:rPr>
                        <a:t>Bảo mật private key phía client</a:t>
                      </a:r>
                    </a:p>
                    <a:p>
                      <a:pPr marL="171450" indent="-171450" algn="just">
                        <a:buFont typeface="Arial" panose="020B0604020202020204" pitchFamily="34" charset="0"/>
                        <a:buChar char="•"/>
                      </a:pPr>
                      <a:r>
                        <a:rPr lang="vi-VN" sz="1000" dirty="0">
                          <a:latin typeface="+mn-lt"/>
                          <a:cs typeface="Arial" panose="020B0604020202020204" pitchFamily="34" charset="0"/>
                        </a:rPr>
                        <a:t>Triển khai multi-node blockchain</a:t>
                      </a:r>
                    </a:p>
                    <a:p>
                      <a:pPr marL="171450" indent="-171450" algn="just">
                        <a:buFont typeface="Arial" panose="020B0604020202020204" pitchFamily="34" charset="0"/>
                        <a:buChar char="•"/>
                      </a:pPr>
                      <a:r>
                        <a:rPr lang="vi-VN" sz="1000" dirty="0">
                          <a:latin typeface="+mn-lt"/>
                          <a:cs typeface="Arial" panose="020B0604020202020204" pitchFamily="34" charset="0"/>
                        </a:rPr>
                        <a:t>Tích hợp API với hệ thống ERP</a:t>
                      </a:r>
                    </a:p>
                    <a:p>
                      <a:pPr marL="171450" indent="-171450" algn="just">
                        <a:buFont typeface="Arial" panose="020B0604020202020204" pitchFamily="34" charset="0"/>
                        <a:buChar char="•"/>
                      </a:pPr>
                      <a:r>
                        <a:rPr lang="vi-VN" sz="1000" dirty="0">
                          <a:latin typeface="+mn-lt"/>
                          <a:cs typeface="Arial" panose="020B0604020202020204" pitchFamily="34" charset="0"/>
                        </a:rPr>
                        <a:t>Bổ sung xuất báo cáo và tối ưu hiệu năng mining.</a:t>
                      </a:r>
                      <a:endParaRPr lang="en-US"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sp>
        <p:nvSpPr>
          <p:cNvPr id="92" name="TextBox 91">
            <a:extLst>
              <a:ext uri="{FF2B5EF4-FFF2-40B4-BE49-F238E27FC236}">
                <a16:creationId xmlns:a16="http://schemas.microsoft.com/office/drawing/2014/main" id="{A0C06921-7CE0-2846-54DF-FEF2E2972390}"/>
              </a:ext>
            </a:extLst>
          </p:cNvPr>
          <p:cNvSpPr txBox="1"/>
          <p:nvPr/>
        </p:nvSpPr>
        <p:spPr>
          <a:xfrm>
            <a:off x="3943438" y="9586860"/>
            <a:ext cx="2958439" cy="215444"/>
          </a:xfrm>
          <a:prstGeom prst="rect">
            <a:avLst/>
          </a:prstGeom>
          <a:noFill/>
        </p:spPr>
        <p:txBody>
          <a:bodyPr wrap="square">
            <a:spAutoFit/>
          </a:bodyPr>
          <a:lstStyle/>
          <a:p>
            <a:pPr algn="ctr"/>
            <a:r>
              <a:rPr lang="en-US" sz="750" dirty="0">
                <a:latin typeface="Arial" panose="020B0604020202020204" pitchFamily="34" charset="0"/>
                <a:cs typeface="Arial Hebrew Scholar"/>
              </a:rPr>
              <a:t>©</a:t>
            </a:r>
            <a:r>
              <a:rPr lang="en-US" sz="750" dirty="0" err="1">
                <a:latin typeface="Arial" panose="020B0604020202020204" pitchFamily="34" charset="0"/>
                <a:cs typeface="Arial Hebrew Scholar"/>
              </a:rPr>
              <a:t>AIoTLab</a:t>
            </a:r>
            <a:r>
              <a:rPr lang="en-US" sz="750" dirty="0">
                <a:latin typeface="Arial" panose="020B0604020202020204" pitchFamily="34" charset="0"/>
                <a:cs typeface="Arial Hebrew Scholar"/>
              </a:rPr>
              <a:t>, Faculty of Information Technology, </a:t>
            </a:r>
            <a:r>
              <a:rPr lang="en-US" sz="750" dirty="0" err="1">
                <a:latin typeface="Arial" panose="020B0604020202020204" pitchFamily="34" charset="0"/>
                <a:cs typeface="Arial Hebrew Scholar"/>
              </a:rPr>
              <a:t>DaiNam</a:t>
            </a:r>
            <a:r>
              <a:rPr lang="en-US" sz="750" dirty="0">
                <a:latin typeface="Arial" panose="020B0604020202020204" pitchFamily="34" charset="0"/>
                <a:cs typeface="Arial Hebrew Scholar"/>
              </a:rPr>
              <a:t> University</a:t>
            </a:r>
          </a:p>
        </p:txBody>
      </p:sp>
      <p:grpSp>
        <p:nvGrpSpPr>
          <p:cNvPr id="1024" name="Group 1023">
            <a:extLst>
              <a:ext uri="{FF2B5EF4-FFF2-40B4-BE49-F238E27FC236}">
                <a16:creationId xmlns:a16="http://schemas.microsoft.com/office/drawing/2014/main" id="{744A033B-ADB1-65DC-6E8B-77A248771067}"/>
              </a:ext>
            </a:extLst>
          </p:cNvPr>
          <p:cNvGrpSpPr/>
          <p:nvPr/>
        </p:nvGrpSpPr>
        <p:grpSpPr>
          <a:xfrm>
            <a:off x="4535229" y="7599157"/>
            <a:ext cx="683266" cy="362763"/>
            <a:chOff x="6071533" y="2197843"/>
            <a:chExt cx="683266" cy="367061"/>
          </a:xfrm>
        </p:grpSpPr>
        <p:sp>
          <p:nvSpPr>
            <p:cNvPr id="1025" name="TextBox 1024">
              <a:extLst>
                <a:ext uri="{FF2B5EF4-FFF2-40B4-BE49-F238E27FC236}">
                  <a16:creationId xmlns:a16="http://schemas.microsoft.com/office/drawing/2014/main" id="{F232106F-BB02-AEDC-69E9-2BDE01BDE00D}"/>
                </a:ext>
              </a:extLst>
            </p:cNvPr>
            <p:cNvSpPr txBox="1"/>
            <p:nvPr/>
          </p:nvSpPr>
          <p:spPr>
            <a:xfrm>
              <a:off x="6105590" y="2222338"/>
              <a:ext cx="649209" cy="342566"/>
            </a:xfrm>
            <a:prstGeom prst="rect">
              <a:avLst/>
            </a:prstGeom>
            <a:noFill/>
          </p:spPr>
          <p:txBody>
            <a:bodyPr wrap="square">
              <a:spAutoFit/>
            </a:bodyPr>
            <a:lstStyle/>
            <a:p>
              <a:pPr algn="ctr"/>
              <a:r>
                <a:rPr lang="en-US" sz="800" b="1">
                  <a:latin typeface="Arial Hebrew Scholar" pitchFamily="2" charset="-79"/>
                  <a:cs typeface="Arial Hebrew Scholar" pitchFamily="2" charset="-79"/>
                </a:rPr>
                <a:t>Github Platform</a:t>
              </a:r>
              <a:endParaRPr lang="en-US" sz="800" b="1" dirty="0">
                <a:latin typeface="Arial Hebrew Scholar" pitchFamily="2" charset="-79"/>
                <a:cs typeface="Arial Hebrew Scholar" pitchFamily="2" charset="-79"/>
              </a:endParaRPr>
            </a:p>
          </p:txBody>
        </p:sp>
        <p:pic>
          <p:nvPicPr>
            <p:cNvPr id="1026" name="Picture 4" descr="Github Logo - Free social media icons">
              <a:extLst>
                <a:ext uri="{FF2B5EF4-FFF2-40B4-BE49-F238E27FC236}">
                  <a16:creationId xmlns:a16="http://schemas.microsoft.com/office/drawing/2014/main" id="{58468723-8BEE-E9A8-37F1-25D443A7862F}"/>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35" name="Group 1034">
            <a:extLst>
              <a:ext uri="{FF2B5EF4-FFF2-40B4-BE49-F238E27FC236}">
                <a16:creationId xmlns:a16="http://schemas.microsoft.com/office/drawing/2014/main" id="{CA4AE13E-261B-CCD9-0CCB-E209746E8442}"/>
              </a:ext>
            </a:extLst>
          </p:cNvPr>
          <p:cNvGrpSpPr/>
          <p:nvPr/>
        </p:nvGrpSpPr>
        <p:grpSpPr>
          <a:xfrm>
            <a:off x="5679061" y="6914401"/>
            <a:ext cx="725093" cy="1027194"/>
            <a:chOff x="5729861" y="6934721"/>
            <a:chExt cx="725093" cy="1027194"/>
          </a:xfrm>
        </p:grpSpPr>
        <p:pic>
          <p:nvPicPr>
            <p:cNvPr id="1029" name="Picture 1028">
              <a:extLst>
                <a:ext uri="{FF2B5EF4-FFF2-40B4-BE49-F238E27FC236}">
                  <a16:creationId xmlns:a16="http://schemas.microsoft.com/office/drawing/2014/main" id="{9A6FA28E-24A2-971C-1329-B9C39D8020D1}"/>
                </a:ext>
              </a:extLst>
            </p:cNvPr>
            <p:cNvPicPr>
              <a:picLocks noChangeAspect="1"/>
            </p:cNvPicPr>
            <p:nvPr/>
          </p:nvPicPr>
          <p:blipFill>
            <a:blip r:embed="rId5"/>
            <a:stretch>
              <a:fillRect/>
            </a:stretch>
          </p:blipFill>
          <p:spPr>
            <a:xfrm>
              <a:off x="5729861" y="6934721"/>
              <a:ext cx="658860" cy="648000"/>
            </a:xfrm>
            <a:prstGeom prst="rect">
              <a:avLst/>
            </a:prstGeom>
          </p:spPr>
        </p:pic>
        <p:grpSp>
          <p:nvGrpSpPr>
            <p:cNvPr id="1031" name="Group 1030">
              <a:extLst>
                <a:ext uri="{FF2B5EF4-FFF2-40B4-BE49-F238E27FC236}">
                  <a16:creationId xmlns:a16="http://schemas.microsoft.com/office/drawing/2014/main" id="{CF614D1B-5E22-CCB8-7095-13F12F04FD96}"/>
                </a:ext>
              </a:extLst>
            </p:cNvPr>
            <p:cNvGrpSpPr/>
            <p:nvPr/>
          </p:nvGrpSpPr>
          <p:grpSpPr>
            <a:xfrm>
              <a:off x="5771688" y="7623361"/>
              <a:ext cx="683266" cy="338554"/>
              <a:chOff x="6071533" y="2191497"/>
              <a:chExt cx="683266" cy="342566"/>
            </a:xfrm>
          </p:grpSpPr>
          <p:sp>
            <p:nvSpPr>
              <p:cNvPr id="1032" name="TextBox 1031">
                <a:extLst>
                  <a:ext uri="{FF2B5EF4-FFF2-40B4-BE49-F238E27FC236}">
                    <a16:creationId xmlns:a16="http://schemas.microsoft.com/office/drawing/2014/main" id="{C3051B63-3463-6494-3CCA-F8F194D0A4B7}"/>
                  </a:ext>
                </a:extLst>
              </p:cNvPr>
              <p:cNvSpPr txBox="1"/>
              <p:nvPr/>
            </p:nvSpPr>
            <p:spPr>
              <a:xfrm>
                <a:off x="6105590" y="2191497"/>
                <a:ext cx="649209" cy="342566"/>
              </a:xfrm>
              <a:prstGeom prst="rect">
                <a:avLst/>
              </a:prstGeom>
              <a:noFill/>
            </p:spPr>
            <p:txBody>
              <a:bodyPr wrap="square">
                <a:spAutoFit/>
              </a:bodyPr>
              <a:lstStyle/>
              <a:p>
                <a:pPr algn="ctr"/>
                <a:r>
                  <a:rPr lang="en-US" sz="800" b="1">
                    <a:latin typeface="Arial Hebrew Scholar" pitchFamily="2" charset="-79"/>
                    <a:cs typeface="Arial Hebrew Scholar" pitchFamily="2" charset="-79"/>
                  </a:rPr>
                  <a:t>Github FIT-DNU</a:t>
                </a:r>
                <a:endParaRPr lang="en-US" sz="800" b="1" dirty="0">
                  <a:latin typeface="Arial Hebrew Scholar" pitchFamily="2" charset="-79"/>
                  <a:cs typeface="Arial Hebrew Scholar" pitchFamily="2" charset="-79"/>
                </a:endParaRPr>
              </a:p>
            </p:txBody>
          </p:sp>
          <p:pic>
            <p:nvPicPr>
              <p:cNvPr id="1033" name="Picture 4" descr="Github Logo - Free social media icons">
                <a:extLst>
                  <a:ext uri="{FF2B5EF4-FFF2-40B4-BE49-F238E27FC236}">
                    <a16:creationId xmlns:a16="http://schemas.microsoft.com/office/drawing/2014/main" id="{E7E7E365-5E2E-837C-A71B-F336329B5125}"/>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3" name="Picture 2">
            <a:extLst>
              <a:ext uri="{FF2B5EF4-FFF2-40B4-BE49-F238E27FC236}">
                <a16:creationId xmlns:a16="http://schemas.microsoft.com/office/drawing/2014/main" id="{D687F23E-DCF4-801C-1BEF-85585D43F53C}"/>
              </a:ext>
            </a:extLst>
          </p:cNvPr>
          <p:cNvPicPr>
            <a:picLocks noChangeAspect="1"/>
          </p:cNvPicPr>
          <p:nvPr/>
        </p:nvPicPr>
        <p:blipFill>
          <a:blip r:embed="rId6"/>
          <a:stretch>
            <a:fillRect/>
          </a:stretch>
        </p:blipFill>
        <p:spPr>
          <a:xfrm>
            <a:off x="4103142" y="2889084"/>
            <a:ext cx="2657945" cy="1289417"/>
          </a:xfrm>
          <a:prstGeom prst="rect">
            <a:avLst/>
          </a:prstGeom>
        </p:spPr>
      </p:pic>
      <p:pic>
        <p:nvPicPr>
          <p:cNvPr id="9" name="Picture 8">
            <a:extLst>
              <a:ext uri="{FF2B5EF4-FFF2-40B4-BE49-F238E27FC236}">
                <a16:creationId xmlns:a16="http://schemas.microsoft.com/office/drawing/2014/main" id="{531D2361-0AA6-5EDE-37A6-C43F862CBE4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57601" y="1173110"/>
            <a:ext cx="735405" cy="796688"/>
          </a:xfrm>
          <a:prstGeom prst="rect">
            <a:avLst/>
          </a:prstGeom>
        </p:spPr>
      </p:pic>
      <p:pic>
        <p:nvPicPr>
          <p:cNvPr id="11" name="Picture 10">
            <a:extLst>
              <a:ext uri="{FF2B5EF4-FFF2-40B4-BE49-F238E27FC236}">
                <a16:creationId xmlns:a16="http://schemas.microsoft.com/office/drawing/2014/main" id="{8A4FF309-47E0-F33B-1DF6-02E72BD7ADF3}"/>
              </a:ext>
            </a:extLst>
          </p:cNvPr>
          <p:cNvPicPr>
            <a:picLocks noChangeAspect="1"/>
          </p:cNvPicPr>
          <p:nvPr/>
        </p:nvPicPr>
        <p:blipFill>
          <a:blip r:embed="rId7">
            <a:extLst>
              <a:ext uri="{28A0092B-C50C-407E-A947-70E740481C1C}">
                <a14:useLocalDpi xmlns:a14="http://schemas.microsoft.com/office/drawing/2010/main" val="0"/>
              </a:ext>
            </a:extLst>
          </a:blip>
          <a:srcRect l="10394" t="8932" r="9558" b="12619"/>
          <a:stretch/>
        </p:blipFill>
        <p:spPr>
          <a:xfrm>
            <a:off x="4535229" y="6898146"/>
            <a:ext cx="664386" cy="705366"/>
          </a:xfrm>
          <a:prstGeom prst="rect">
            <a:avLst/>
          </a:prstGeom>
        </p:spPr>
      </p:pic>
      <p:grpSp>
        <p:nvGrpSpPr>
          <p:cNvPr id="18" name="Group 17">
            <a:extLst>
              <a:ext uri="{FF2B5EF4-FFF2-40B4-BE49-F238E27FC236}">
                <a16:creationId xmlns:a16="http://schemas.microsoft.com/office/drawing/2014/main" id="{30DE467E-78D3-45C0-B9FF-239165865A39}"/>
              </a:ext>
            </a:extLst>
          </p:cNvPr>
          <p:cNvGrpSpPr/>
          <p:nvPr/>
        </p:nvGrpSpPr>
        <p:grpSpPr>
          <a:xfrm>
            <a:off x="170486" y="4096153"/>
            <a:ext cx="3695899" cy="5645970"/>
            <a:chOff x="170486" y="4096153"/>
            <a:chExt cx="3695899" cy="5645970"/>
          </a:xfrm>
        </p:grpSpPr>
        <p:pic>
          <p:nvPicPr>
            <p:cNvPr id="13" name="Picture 12">
              <a:extLst>
                <a:ext uri="{FF2B5EF4-FFF2-40B4-BE49-F238E27FC236}">
                  <a16:creationId xmlns:a16="http://schemas.microsoft.com/office/drawing/2014/main" id="{906B378C-92A5-DADD-02D3-853E92C2A99D}"/>
                </a:ext>
              </a:extLst>
            </p:cNvPr>
            <p:cNvPicPr>
              <a:picLocks noChangeAspect="1"/>
            </p:cNvPicPr>
            <p:nvPr/>
          </p:nvPicPr>
          <p:blipFill>
            <a:blip r:embed="rId8"/>
            <a:srcRect l="23369" t="28968" r="23906" b="26757"/>
            <a:stretch/>
          </p:blipFill>
          <p:spPr>
            <a:xfrm>
              <a:off x="170486" y="4096153"/>
              <a:ext cx="3670402" cy="1550746"/>
            </a:xfrm>
            <a:prstGeom prst="rect">
              <a:avLst/>
            </a:prstGeom>
          </p:spPr>
        </p:pic>
        <p:pic>
          <p:nvPicPr>
            <p:cNvPr id="16" name="Picture 15">
              <a:extLst>
                <a:ext uri="{FF2B5EF4-FFF2-40B4-BE49-F238E27FC236}">
                  <a16:creationId xmlns:a16="http://schemas.microsoft.com/office/drawing/2014/main" id="{7BDF484F-1AB8-15A4-1C3F-B39BFDD8A2BB}"/>
                </a:ext>
              </a:extLst>
            </p:cNvPr>
            <p:cNvPicPr>
              <a:picLocks noChangeAspect="1"/>
            </p:cNvPicPr>
            <p:nvPr/>
          </p:nvPicPr>
          <p:blipFill>
            <a:blip r:embed="rId9"/>
            <a:stretch>
              <a:fillRect/>
            </a:stretch>
          </p:blipFill>
          <p:spPr>
            <a:xfrm>
              <a:off x="182416" y="5703204"/>
              <a:ext cx="3670402" cy="1980548"/>
            </a:xfrm>
            <a:prstGeom prst="rect">
              <a:avLst/>
            </a:prstGeom>
          </p:spPr>
        </p:pic>
        <p:pic>
          <p:nvPicPr>
            <p:cNvPr id="17" name="Picture 16">
              <a:extLst>
                <a:ext uri="{FF2B5EF4-FFF2-40B4-BE49-F238E27FC236}">
                  <a16:creationId xmlns:a16="http://schemas.microsoft.com/office/drawing/2014/main" id="{434C5E2C-744D-A57D-2527-B23CC39D08AD}"/>
                </a:ext>
              </a:extLst>
            </p:cNvPr>
            <p:cNvPicPr>
              <a:picLocks noChangeAspect="1"/>
            </p:cNvPicPr>
            <p:nvPr/>
          </p:nvPicPr>
          <p:blipFill>
            <a:blip r:embed="rId10"/>
            <a:stretch>
              <a:fillRect/>
            </a:stretch>
          </p:blipFill>
          <p:spPr>
            <a:xfrm>
              <a:off x="170486" y="7740057"/>
              <a:ext cx="3695899" cy="2002066"/>
            </a:xfrm>
            <a:prstGeom prst="rect">
              <a:avLst/>
            </a:prstGeom>
          </p:spPr>
        </p:pic>
      </p:grpSp>
      <p:grpSp>
        <p:nvGrpSpPr>
          <p:cNvPr id="22" name="Group 21">
            <a:extLst>
              <a:ext uri="{FF2B5EF4-FFF2-40B4-BE49-F238E27FC236}">
                <a16:creationId xmlns:a16="http://schemas.microsoft.com/office/drawing/2014/main" id="{1FC83A98-C104-C48D-3CC3-34A5E0F592DC}"/>
              </a:ext>
            </a:extLst>
          </p:cNvPr>
          <p:cNvGrpSpPr/>
          <p:nvPr/>
        </p:nvGrpSpPr>
        <p:grpSpPr>
          <a:xfrm>
            <a:off x="4308914" y="5125808"/>
            <a:ext cx="2246447" cy="310869"/>
            <a:chOff x="4313141" y="5175758"/>
            <a:chExt cx="2246447" cy="310869"/>
          </a:xfrm>
        </p:grpSpPr>
        <p:pic>
          <p:nvPicPr>
            <p:cNvPr id="21" name="Picture 8" descr="Expressjs là gì? Cách sử dụng Expressjs đạt kết quả tốt nhất">
              <a:extLst>
                <a:ext uri="{FF2B5EF4-FFF2-40B4-BE49-F238E27FC236}">
                  <a16:creationId xmlns:a16="http://schemas.microsoft.com/office/drawing/2014/main" id="{1DFFCF17-EA4A-7D10-A351-F8E577EE2536}"/>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20038" b="21615"/>
            <a:stretch/>
          </p:blipFill>
          <p:spPr bwMode="auto">
            <a:xfrm>
              <a:off x="5218495" y="5227982"/>
              <a:ext cx="764947" cy="20642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0977504C-30D5-16DB-F69C-AB863B8F94D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13141" y="5227962"/>
              <a:ext cx="764948" cy="20646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EJS Icons for Embedded JavaScript Templates">
              <a:extLst>
                <a:ext uri="{FF2B5EF4-FFF2-40B4-BE49-F238E27FC236}">
                  <a16:creationId xmlns:a16="http://schemas.microsoft.com/office/drawing/2014/main" id="{9237C933-086C-67AA-963D-C139E0911C7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48719" y="5175758"/>
              <a:ext cx="310869" cy="310869"/>
            </a:xfrm>
            <a:prstGeom prst="rect">
              <a:avLst/>
            </a:prstGeom>
            <a:noFill/>
            <a:extLst>
              <a:ext uri="{909E8E84-426E-40DD-AFC4-6F175D3DCCD1}">
                <a14:hiddenFill xmlns:a14="http://schemas.microsoft.com/office/drawing/2010/main">
                  <a:solidFill>
                    <a:srgbClr val="FFFFFF"/>
                  </a:solidFill>
                </a14:hiddenFill>
              </a:ext>
            </a:extLst>
          </p:spPr>
        </p:pic>
      </p:grpSp>
      <p:pic>
        <p:nvPicPr>
          <p:cNvPr id="1040" name="Picture 16" descr="Mysql là gì? Những ưu điểm và nhược điểm của Mysql">
            <a:extLst>
              <a:ext uri="{FF2B5EF4-FFF2-40B4-BE49-F238E27FC236}">
                <a16:creationId xmlns:a16="http://schemas.microsoft.com/office/drawing/2014/main" id="{B732BA19-63A2-742D-0CC9-B5D36B560A5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55957" y="5705637"/>
            <a:ext cx="533400" cy="299667"/>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125 Sha 256 Algorithm Royalty-Free Images, Stock Photos &amp; Pictures |  Shutterstock">
            <a:extLst>
              <a:ext uri="{FF2B5EF4-FFF2-40B4-BE49-F238E27FC236}">
                <a16:creationId xmlns:a16="http://schemas.microsoft.com/office/drawing/2014/main" id="{FFA57EDF-78AB-F11F-7EB0-314B52983482}"/>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t="11303" b="17736"/>
          <a:stretch/>
        </p:blipFill>
        <p:spPr bwMode="auto">
          <a:xfrm>
            <a:off x="5311983" y="6303428"/>
            <a:ext cx="284758" cy="217609"/>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Blockchain.com - GREAT Campaign">
            <a:extLst>
              <a:ext uri="{FF2B5EF4-FFF2-40B4-BE49-F238E27FC236}">
                <a16:creationId xmlns:a16="http://schemas.microsoft.com/office/drawing/2014/main" id="{20650841-1978-B519-97B8-2A01E2B0B9E0}"/>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2486" t="35747" r="27836" b="40204"/>
          <a:stretch/>
        </p:blipFill>
        <p:spPr bwMode="auto">
          <a:xfrm>
            <a:off x="4236639" y="6341378"/>
            <a:ext cx="866657" cy="168262"/>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How To Enable ECDSA Signature Algorithm for Better Security - Cheap SSL  Security">
            <a:extLst>
              <a:ext uri="{FF2B5EF4-FFF2-40B4-BE49-F238E27FC236}">
                <a16:creationId xmlns:a16="http://schemas.microsoft.com/office/drawing/2014/main" id="{5CC164B4-D891-C282-3282-A8159BC6C869}"/>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l="24074" t="6246" r="23968" b="5460"/>
          <a:stretch/>
        </p:blipFill>
        <p:spPr bwMode="auto">
          <a:xfrm>
            <a:off x="5934962" y="6286285"/>
            <a:ext cx="482600" cy="268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58698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720</TotalTime>
  <Words>221</Words>
  <Application>Microsoft Macintosh PowerPoint</Application>
  <PresentationFormat>A4 Paper (210x297 mm)</PresentationFormat>
  <Paragraphs>41</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Arial Hebrew Scholar</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Thái Khánh Nguyễn</dc:creator>
  <cp:lastModifiedBy>CNTT1301 049 Dương Thị Ngọc Huyền</cp:lastModifiedBy>
  <cp:revision>107</cp:revision>
  <dcterms:created xsi:type="dcterms:W3CDTF">2023-07-02T07:57:15Z</dcterms:created>
  <dcterms:modified xsi:type="dcterms:W3CDTF">2026-06-03T10:39:55Z</dcterms:modified>
</cp:coreProperties>
</file>